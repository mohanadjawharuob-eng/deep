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B2F24"/>
        </a:solidFill>
        <a:effectLst/>
      </p:bgPr>
    </p:bg>
    <p:spTree>
      <p:nvGrpSpPr>
        <p:cNvPr id="1" name=""/>
        <p:cNvGrpSpPr/>
        <p:nvPr/>
      </p:nvGrpSpPr>
      <p:grpSpPr/>
      <p:sp>
        <p:nvSpPr>
          <p:cNvPr id="2" name="Rectangle 1"/>
          <p:cNvSpPr/>
          <p:nvPr/>
        </p:nvSpPr>
        <p:spPr>
          <a:xfrm>
            <a:off x="822960" y="2286000"/>
            <a:ext cx="20116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651760"/>
            <a:ext cx="9144000" cy="1463040"/>
          </a:xfrm>
          <a:prstGeom prst="rect">
            <a:avLst/>
          </a:prstGeom>
          <a:noFill/>
        </p:spPr>
        <p:txBody>
          <a:bodyPr wrap="square" lIns="0" rIns="0" tIns="0" bIns="0">
            <a:spAutoFit/>
          </a:bodyPr>
          <a:lstStyle/>
          <a:p>
            <a:pPr algn="l">
              <a:lnSpc>
                <a:spcPct val="100000"/>
              </a:lnSpc>
            </a:pPr>
            <a:r>
              <a:rPr sz="6600" b="1">
                <a:solidFill>
                  <a:srgbClr val="F2EDE3"/>
                </a:solidFill>
                <a:latin typeface="Georgia"/>
              </a:rPr>
              <a:t>Stratum</a:t>
            </a:r>
          </a:p>
        </p:txBody>
      </p:sp>
      <p:sp>
        <p:nvSpPr>
          <p:cNvPr id="4" name="TextBox 3"/>
          <p:cNvSpPr txBox="1"/>
          <p:nvPr/>
        </p:nvSpPr>
        <p:spPr>
          <a:xfrm>
            <a:off x="822960" y="4023360"/>
            <a:ext cx="8229600" cy="1097280"/>
          </a:xfrm>
          <a:prstGeom prst="rect">
            <a:avLst/>
          </a:prstGeom>
          <a:noFill/>
        </p:spPr>
        <p:txBody>
          <a:bodyPr wrap="square" lIns="0" rIns="0" tIns="0" bIns="0">
            <a:spAutoFit/>
          </a:bodyPr>
          <a:lstStyle/>
          <a:p>
            <a:pPr algn="l">
              <a:lnSpc>
                <a:spcPct val="130000"/>
              </a:lnSpc>
            </a:pPr>
            <a:r>
              <a:rPr sz="2200" b="0">
                <a:solidFill>
                  <a:srgbClr val="C9BEAC"/>
                </a:solidFill>
                <a:latin typeface="Calibri"/>
              </a:rPr>
              <a:t>One platform for excavation, collections and everything</a:t>
            </a:r>
          </a:p>
          <a:p>
            <a:pPr algn="l">
              <a:lnSpc>
                <a:spcPct val="130000"/>
              </a:lnSpc>
            </a:pPr>
            <a:r>
              <a:rPr sz="2200" b="0">
                <a:solidFill>
                  <a:srgbClr val="C9BEAC"/>
                </a:solidFill>
                <a:latin typeface="Calibri"/>
              </a:rPr>
              <a:t>around them — from the trench to the publication.</a:t>
            </a:r>
          </a:p>
        </p:txBody>
      </p:sp>
      <p:sp>
        <p:nvSpPr>
          <p:cNvPr id="5" name="TextBox 4"/>
          <p:cNvSpPr txBox="1"/>
          <p:nvPr/>
        </p:nvSpPr>
        <p:spPr>
          <a:xfrm>
            <a:off x="822960" y="5852160"/>
            <a:ext cx="9144000" cy="457200"/>
          </a:xfrm>
          <a:prstGeom prst="rect">
            <a:avLst/>
          </a:prstGeom>
          <a:noFill/>
        </p:spPr>
        <p:txBody>
          <a:bodyPr wrap="square" lIns="0" rIns="0" tIns="0" bIns="0">
            <a:spAutoFit/>
          </a:bodyPr>
          <a:lstStyle/>
          <a:p>
            <a:pPr algn="l">
              <a:lnSpc>
                <a:spcPct val="100000"/>
              </a:lnSpc>
            </a:pPr>
            <a:r>
              <a:rPr sz="1300" b="0">
                <a:solidFill>
                  <a:srgbClr val="8E8274"/>
                </a:solidFill>
                <a:latin typeface="Calibri"/>
              </a:rPr>
              <a:t>Archaeological research and heritage management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1371600"/>
            <a:ext cx="7315200" cy="365760"/>
          </a:xfrm>
          <a:prstGeom prst="rect">
            <a:avLst/>
          </a:prstGeom>
          <a:noFill/>
        </p:spPr>
        <p:txBody>
          <a:bodyPr wrap="square" lIns="0" rIns="0" tIns="0" bIns="0">
            <a:spAutoFit/>
          </a:bodyPr>
          <a:lstStyle/>
          <a:p>
            <a:pPr algn="l">
              <a:lnSpc>
                <a:spcPct val="100000"/>
              </a:lnSpc>
            </a:pPr>
            <a:r>
              <a:rPr sz="1200" b="1">
                <a:solidFill>
                  <a:srgbClr val="8B3A1F"/>
                </a:solidFill>
                <a:latin typeface="Calibri"/>
              </a:rPr>
              <a:t>THE PROBLEM</a:t>
            </a:r>
          </a:p>
        </p:txBody>
      </p:sp>
      <p:sp>
        <p:nvSpPr>
          <p:cNvPr id="3" name="Rectangle 2"/>
          <p:cNvSpPr/>
          <p:nvPr/>
        </p:nvSpPr>
        <p:spPr>
          <a:xfrm>
            <a:off x="822960" y="182880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2377440"/>
          </a:xfrm>
          <a:prstGeom prst="rect">
            <a:avLst/>
          </a:prstGeom>
          <a:noFill/>
        </p:spPr>
        <p:txBody>
          <a:bodyPr wrap="square" lIns="0" rIns="0" tIns="0" bIns="0">
            <a:spAutoFit/>
          </a:bodyPr>
          <a:lstStyle/>
          <a:p>
            <a:pPr algn="l">
              <a:lnSpc>
                <a:spcPct val="115000"/>
              </a:lnSpc>
            </a:pPr>
            <a:r>
              <a:rPr sz="4000" b="1">
                <a:solidFill>
                  <a:srgbClr val="3B2F24"/>
                </a:solidFill>
                <a:latin typeface="Georgia"/>
              </a:rPr>
              <a:t>The record of an excavation is scattered</a:t>
            </a:r>
          </a:p>
          <a:p>
            <a:pPr algn="l">
              <a:lnSpc>
                <a:spcPct val="115000"/>
              </a:lnSpc>
            </a:pPr>
            <a:r>
              <a:rPr sz="4000" b="1">
                <a:solidFill>
                  <a:srgbClr val="3B2F24"/>
                </a:solidFill>
                <a:latin typeface="Georgia"/>
              </a:rPr>
              <a:t>across nine places, and one of them</a:t>
            </a:r>
          </a:p>
          <a:p>
            <a:pPr algn="l">
              <a:lnSpc>
                <a:spcPct val="115000"/>
              </a:lnSpc>
            </a:pPr>
            <a:r>
              <a:rPr sz="4000" b="1">
                <a:solidFill>
                  <a:srgbClr val="3B2F24"/>
                </a:solidFill>
                <a:latin typeface="Georgia"/>
              </a:rPr>
              <a:t>is somebody's laptop.</a:t>
            </a:r>
          </a:p>
        </p:txBody>
      </p:sp>
      <p:sp>
        <p:nvSpPr>
          <p:cNvPr id="5" name="TextBox 4"/>
          <p:cNvSpPr txBox="1"/>
          <p:nvPr/>
        </p:nvSpPr>
        <p:spPr>
          <a:xfrm>
            <a:off x="822960" y="4846320"/>
            <a:ext cx="9144000" cy="1280160"/>
          </a:xfrm>
          <a:prstGeom prst="rect">
            <a:avLst/>
          </a:prstGeom>
          <a:noFill/>
        </p:spPr>
        <p:txBody>
          <a:bodyPr wrap="square" lIns="0" rIns="0" tIns="0" bIns="0">
            <a:spAutoFit/>
          </a:bodyPr>
          <a:lstStyle/>
          <a:p>
            <a:pPr algn="l">
              <a:lnSpc>
                <a:spcPct val="135000"/>
              </a:lnSpc>
            </a:pPr>
            <a:r>
              <a:rPr sz="1700" b="0">
                <a:solidFill>
                  <a:srgbClr val="7A6B5C"/>
                </a:solidFill>
                <a:latin typeface="Calibri"/>
              </a:rPr>
              <a:t>Context sheets in a ring binder. Finds in a spreadsheet. Photographs on an SD card, then a hard drive. The Harris matrix on graph paper, photographed. Permits in an email thread. Costs in a second spreadsheet. Nothing points at anything else.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82296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THE PROBLEM</a:t>
            </a:r>
          </a:p>
        </p:txBody>
      </p:sp>
      <p:sp>
        <p:nvSpPr>
          <p:cNvPr id="3" name="TextBox 2"/>
          <p:cNvSpPr txBox="1"/>
          <p:nvPr/>
        </p:nvSpPr>
        <p:spPr>
          <a:xfrm>
            <a:off x="822960" y="1234440"/>
            <a:ext cx="10058400" cy="822960"/>
          </a:xfrm>
          <a:prstGeom prst="rect">
            <a:avLst/>
          </a:prstGeom>
          <a:noFill/>
        </p:spPr>
        <p:txBody>
          <a:bodyPr wrap="square" lIns="0" rIns="0" tIns="0" bIns="0">
            <a:spAutoFit/>
          </a:bodyPr>
          <a:lstStyle/>
          <a:p>
            <a:pPr algn="l">
              <a:lnSpc>
                <a:spcPct val="100000"/>
              </a:lnSpc>
            </a:pPr>
            <a:r>
              <a:rPr sz="3400" b="1">
                <a:solidFill>
                  <a:srgbClr val="3B2F24"/>
                </a:solidFill>
                <a:latin typeface="Georgia"/>
              </a:rPr>
              <a:t>What that costs, in practice</a:t>
            </a:r>
          </a:p>
        </p:txBody>
      </p:sp>
      <p:sp>
        <p:nvSpPr>
          <p:cNvPr id="4" name="Rectangle 3"/>
          <p:cNvSpPr/>
          <p:nvPr/>
        </p:nvSpPr>
        <p:spPr>
          <a:xfrm>
            <a:off x="822960" y="210312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60320"/>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The excavation cannot be searched</a:t>
            </a:r>
          </a:p>
        </p:txBody>
      </p:sp>
      <p:sp>
        <p:nvSpPr>
          <p:cNvPr id="6" name="TextBox 5"/>
          <p:cNvSpPr txBox="1"/>
          <p:nvPr/>
        </p:nvSpPr>
        <p:spPr>
          <a:xfrm>
            <a:off x="822960" y="2889504"/>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Answering “which contexts produced Nabataean sherds?” means opening files, not asking a question.</a:t>
            </a:r>
          </a:p>
        </p:txBody>
      </p:sp>
      <p:sp>
        <p:nvSpPr>
          <p:cNvPr id="7" name="TextBox 6"/>
          <p:cNvSpPr txBox="1"/>
          <p:nvPr/>
        </p:nvSpPr>
        <p:spPr>
          <a:xfrm>
            <a:off x="822960" y="3584448"/>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The link between object and context is fragile</a:t>
            </a:r>
          </a:p>
        </p:txBody>
      </p:sp>
      <p:sp>
        <p:nvSpPr>
          <p:cNvPr id="8" name="TextBox 7"/>
          <p:cNvSpPr txBox="1"/>
          <p:nvPr/>
        </p:nvSpPr>
        <p:spPr>
          <a:xfrm>
            <a:off x="822960" y="3913632"/>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It lives in a column somebody typed. When the numbering changes mid-season, it quietly stops being true.</a:t>
            </a:r>
          </a:p>
        </p:txBody>
      </p:sp>
      <p:sp>
        <p:nvSpPr>
          <p:cNvPr id="9" name="TextBox 8"/>
          <p:cNvSpPr txBox="1"/>
          <p:nvPr/>
        </p:nvSpPr>
        <p:spPr>
          <a:xfrm>
            <a:off x="822960" y="4608576"/>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Only one person knows where anything is</a:t>
            </a:r>
          </a:p>
        </p:txBody>
      </p:sp>
      <p:sp>
        <p:nvSpPr>
          <p:cNvPr id="10" name="TextBox 9"/>
          <p:cNvSpPr txBox="1"/>
          <p:nvPr/>
        </p:nvSpPr>
        <p:spPr>
          <a:xfrm>
            <a:off x="822960" y="4937760"/>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That person leaves, or is in the field with no signal, and the season stops.</a:t>
            </a:r>
          </a:p>
        </p:txBody>
      </p:sp>
      <p:sp>
        <p:nvSpPr>
          <p:cNvPr id="11" name="TextBox 10"/>
          <p:cNvSpPr txBox="1"/>
          <p:nvPr/>
        </p:nvSpPr>
        <p:spPr>
          <a:xfrm>
            <a:off x="822960" y="5632704"/>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Publication starts by rebuilding the dataset</a:t>
            </a:r>
          </a:p>
        </p:txBody>
      </p:sp>
      <p:sp>
        <p:nvSpPr>
          <p:cNvPr id="12" name="TextBox 11"/>
          <p:cNvSpPr txBox="1"/>
          <p:nvPr/>
        </p:nvSpPr>
        <p:spPr>
          <a:xfrm>
            <a:off x="822960" y="5961888"/>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Two months of reconciling spreadsheets before a word is written — every time.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1371600"/>
            <a:ext cx="7315200" cy="365760"/>
          </a:xfrm>
          <a:prstGeom prst="rect">
            <a:avLst/>
          </a:prstGeom>
          <a:noFill/>
        </p:spPr>
        <p:txBody>
          <a:bodyPr wrap="square" lIns="0" rIns="0" tIns="0" bIns="0">
            <a:spAutoFit/>
          </a:bodyPr>
          <a:lstStyle/>
          <a:p>
            <a:pPr algn="l">
              <a:lnSpc>
                <a:spcPct val="100000"/>
              </a:lnSpc>
            </a:pPr>
            <a:r>
              <a:rPr sz="1200" b="1">
                <a:solidFill>
                  <a:srgbClr val="8B3A1F"/>
                </a:solidFill>
                <a:latin typeface="Calibri"/>
              </a:rPr>
              <a:t>THE IDEA</a:t>
            </a:r>
          </a:p>
        </p:txBody>
      </p:sp>
      <p:sp>
        <p:nvSpPr>
          <p:cNvPr id="3" name="Rectangle 2"/>
          <p:cNvSpPr/>
          <p:nvPr/>
        </p:nvSpPr>
        <p:spPr>
          <a:xfrm>
            <a:off x="822960" y="182880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2377440"/>
          </a:xfrm>
          <a:prstGeom prst="rect">
            <a:avLst/>
          </a:prstGeom>
          <a:noFill/>
        </p:spPr>
        <p:txBody>
          <a:bodyPr wrap="square" lIns="0" rIns="0" tIns="0" bIns="0">
            <a:spAutoFit/>
          </a:bodyPr>
          <a:lstStyle/>
          <a:p>
            <a:pPr algn="l">
              <a:lnSpc>
                <a:spcPct val="115000"/>
              </a:lnSpc>
            </a:pPr>
            <a:r>
              <a:rPr sz="4000" b="1">
                <a:solidFill>
                  <a:srgbClr val="3B2F24"/>
                </a:solidFill>
                <a:latin typeface="Georgia"/>
              </a:rPr>
              <a:t>One database. One login.</a:t>
            </a:r>
          </a:p>
          <a:p>
            <a:pPr algn="l">
              <a:lnSpc>
                <a:spcPct val="115000"/>
              </a:lnSpc>
            </a:pPr>
            <a:r>
              <a:rPr sz="4000" b="1">
                <a:solidFill>
                  <a:srgbClr val="3B2F24"/>
                </a:solidFill>
                <a:latin typeface="Georgia"/>
              </a:rPr>
              <a:t>Six ways in.</a:t>
            </a:r>
          </a:p>
        </p:txBody>
      </p:sp>
      <p:sp>
        <p:nvSpPr>
          <p:cNvPr id="5" name="TextBox 4"/>
          <p:cNvSpPr txBox="1"/>
          <p:nvPr/>
        </p:nvSpPr>
        <p:spPr>
          <a:xfrm>
            <a:off x="822960" y="4846320"/>
            <a:ext cx="9144000" cy="1280160"/>
          </a:xfrm>
          <a:prstGeom prst="rect">
            <a:avLst/>
          </a:prstGeom>
          <a:noFill/>
        </p:spPr>
        <p:txBody>
          <a:bodyPr wrap="square" lIns="0" rIns="0" tIns="0" bIns="0">
            <a:spAutoFit/>
          </a:bodyPr>
          <a:lstStyle/>
          <a:p>
            <a:pPr algn="l">
              <a:lnSpc>
                <a:spcPct val="135000"/>
              </a:lnSpc>
            </a:pPr>
            <a:r>
              <a:rPr sz="1700" b="0">
                <a:solidFill>
                  <a:srgbClr val="7A6B5C"/>
                </a:solidFill>
                <a:latin typeface="Calibri"/>
              </a:rPr>
              <a:t>Everything an institution records about a site, an object, a season or a store — in a single system that knows how the pieces relate, and that lets each person see exactly the part of it that is theirs.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77724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WHAT IT IS</a:t>
            </a:r>
          </a:p>
        </p:txBody>
      </p:sp>
      <p:sp>
        <p:nvSpPr>
          <p:cNvPr id="3" name="TextBox 2"/>
          <p:cNvSpPr txBox="1"/>
          <p:nvPr/>
        </p:nvSpPr>
        <p:spPr>
          <a:xfrm>
            <a:off x="822960" y="1143000"/>
            <a:ext cx="10058400" cy="731520"/>
          </a:xfrm>
          <a:prstGeom prst="rect">
            <a:avLst/>
          </a:prstGeom>
          <a:noFill/>
        </p:spPr>
        <p:txBody>
          <a:bodyPr wrap="square" lIns="0" rIns="0" tIns="0" bIns="0">
            <a:spAutoFit/>
          </a:bodyPr>
          <a:lstStyle/>
          <a:p>
            <a:pPr algn="l">
              <a:lnSpc>
                <a:spcPct val="100000"/>
              </a:lnSpc>
            </a:pPr>
            <a:r>
              <a:rPr sz="3400" b="1">
                <a:solidFill>
                  <a:srgbClr val="3B2F24"/>
                </a:solidFill>
                <a:latin typeface="Georgia"/>
              </a:rPr>
              <a:t>Six modules, one platform</a:t>
            </a:r>
          </a:p>
        </p:txBody>
      </p:sp>
      <p:sp>
        <p:nvSpPr>
          <p:cNvPr id="4" name="Rectangle 3"/>
          <p:cNvSpPr/>
          <p:nvPr/>
        </p:nvSpPr>
        <p:spPr>
          <a:xfrm>
            <a:off x="822960" y="196596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78992"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Archaeology</a:t>
            </a:r>
          </a:p>
        </p:txBody>
      </p:sp>
      <p:sp>
        <p:nvSpPr>
          <p:cNvPr id="7" name="TextBox 6"/>
          <p:cNvSpPr txBox="1"/>
          <p:nvPr/>
        </p:nvSpPr>
        <p:spPr>
          <a:xfrm>
            <a:off x="1078992"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Projects, sites, contexts, finds. Stratigraphy, floor plans, coordinates, photographs, 3D models.</a:t>
            </a:r>
          </a:p>
        </p:txBody>
      </p:sp>
      <p:sp>
        <p:nvSpPr>
          <p:cNvPr id="8" name="Rounded Rectangle 7"/>
          <p:cNvSpPr/>
          <p:nvPr/>
        </p:nvSpPr>
        <p:spPr>
          <a:xfrm>
            <a:off x="4315968"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0"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Museum collection</a:t>
            </a:r>
          </a:p>
        </p:txBody>
      </p:sp>
      <p:sp>
        <p:nvSpPr>
          <p:cNvPr id="10" name="TextBox 9"/>
          <p:cNvSpPr txBox="1"/>
          <p:nvPr/>
        </p:nvSpPr>
        <p:spPr>
          <a:xfrm>
            <a:off x="4572000"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Accessioning under the institution's own numbering, conservation history, exhibitions, loans, environment.</a:t>
            </a:r>
          </a:p>
        </p:txBody>
      </p:sp>
      <p:sp>
        <p:nvSpPr>
          <p:cNvPr id="11" name="Rounded Rectangle 10"/>
          <p:cNvSpPr/>
          <p:nvPr/>
        </p:nvSpPr>
        <p:spPr>
          <a:xfrm>
            <a:off x="7808976"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65008"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Office &amp; storage</a:t>
            </a:r>
          </a:p>
        </p:txBody>
      </p:sp>
      <p:sp>
        <p:nvSpPr>
          <p:cNvPr id="13" name="TextBox 12"/>
          <p:cNvSpPr txBox="1"/>
          <p:nvPr/>
        </p:nvSpPr>
        <p:spPr>
          <a:xfrm>
            <a:off x="8065008"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Where everything physically is — from a shelf in the store to a total station signed out for the season.</a:t>
            </a:r>
          </a:p>
        </p:txBody>
      </p:sp>
      <p:sp>
        <p:nvSpPr>
          <p:cNvPr id="14" name="Rounded Rectangle 13"/>
          <p:cNvSpPr/>
          <p:nvPr/>
        </p:nvSpPr>
        <p:spPr>
          <a:xfrm>
            <a:off x="822960"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78992"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Activity hub</a:t>
            </a:r>
          </a:p>
        </p:txBody>
      </p:sp>
      <p:sp>
        <p:nvSpPr>
          <p:cNvPr id="16" name="TextBox 15"/>
          <p:cNvSpPr txBox="1"/>
          <p:nvPr/>
        </p:nvSpPr>
        <p:spPr>
          <a:xfrm>
            <a:off x="1078992"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What was actually done: equipment, permits, preparations, costs. Repeat last year's season in one click.</a:t>
            </a:r>
          </a:p>
        </p:txBody>
      </p:sp>
      <p:sp>
        <p:nvSpPr>
          <p:cNvPr id="17" name="Rounded Rectangle 16"/>
          <p:cNvSpPr/>
          <p:nvPr/>
        </p:nvSpPr>
        <p:spPr>
          <a:xfrm>
            <a:off x="4315968"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0"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Management</a:t>
            </a:r>
          </a:p>
        </p:txBody>
      </p:sp>
      <p:sp>
        <p:nvSpPr>
          <p:cNvPr id="19" name="TextBox 18"/>
          <p:cNvSpPr txBox="1"/>
          <p:nvPr/>
        </p:nvSpPr>
        <p:spPr>
          <a:xfrm>
            <a:off x="4572000"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Budgets, tasks, the shared calendar. Assign work; it appears on that person's dashboard.</a:t>
            </a:r>
          </a:p>
        </p:txBody>
      </p:sp>
      <p:sp>
        <p:nvSpPr>
          <p:cNvPr id="20" name="Rounded Rectangle 19"/>
          <p:cNvSpPr/>
          <p:nvPr/>
        </p:nvSpPr>
        <p:spPr>
          <a:xfrm>
            <a:off x="7808976"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65008"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Outreach</a:t>
            </a:r>
          </a:p>
        </p:txBody>
      </p:sp>
      <p:sp>
        <p:nvSpPr>
          <p:cNvPr id="22" name="TextBox 21"/>
          <p:cNvSpPr txBox="1"/>
          <p:nvPr/>
        </p:nvSpPr>
        <p:spPr>
          <a:xfrm>
            <a:off x="8065008"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Posts and channels, drafted against real records so what goes out matches what is in the archive.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82296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WHY IT HOLDS UP</a:t>
            </a:r>
          </a:p>
        </p:txBody>
      </p:sp>
      <p:sp>
        <p:nvSpPr>
          <p:cNvPr id="3" name="TextBox 2"/>
          <p:cNvSpPr txBox="1"/>
          <p:nvPr/>
        </p:nvSpPr>
        <p:spPr>
          <a:xfrm>
            <a:off x="822960" y="1234440"/>
            <a:ext cx="10058400" cy="822960"/>
          </a:xfrm>
          <a:prstGeom prst="rect">
            <a:avLst/>
          </a:prstGeom>
          <a:noFill/>
        </p:spPr>
        <p:txBody>
          <a:bodyPr wrap="square" lIns="0" rIns="0" tIns="0" bIns="0">
            <a:spAutoFit/>
          </a:bodyPr>
          <a:lstStyle/>
          <a:p>
            <a:pPr algn="l">
              <a:lnSpc>
                <a:spcPct val="100000"/>
              </a:lnSpc>
            </a:pPr>
            <a:r>
              <a:rPr sz="3400" b="1">
                <a:solidFill>
                  <a:srgbClr val="3B2F24"/>
                </a:solidFill>
                <a:latin typeface="Georgia"/>
              </a:rPr>
              <a:t>The part that makes it usable by an institution</a:t>
            </a:r>
          </a:p>
        </p:txBody>
      </p:sp>
      <p:sp>
        <p:nvSpPr>
          <p:cNvPr id="4" name="Rectangle 3"/>
          <p:cNvSpPr/>
          <p:nvPr/>
        </p:nvSpPr>
        <p:spPr>
          <a:xfrm>
            <a:off x="822960" y="210312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60320"/>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Permission is per module, not per person</a:t>
            </a:r>
          </a:p>
        </p:txBody>
      </p:sp>
      <p:sp>
        <p:nvSpPr>
          <p:cNvPr id="6" name="TextBox 5"/>
          <p:cNvSpPr txBox="1"/>
          <p:nvPr/>
        </p:nvSpPr>
        <p:spPr>
          <a:xfrm>
            <a:off x="822960" y="2889504"/>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A collections manager needs no excavation access. A field director needs no access to the store's valuations. Neither has to be trusted with the other.</a:t>
            </a:r>
          </a:p>
        </p:txBody>
      </p:sp>
      <p:sp>
        <p:nvSpPr>
          <p:cNvPr id="7" name="TextBox 6"/>
          <p:cNvSpPr txBox="1"/>
          <p:nvPr/>
        </p:nvSpPr>
        <p:spPr>
          <a:xfrm>
            <a:off x="822960" y="3584448"/>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A restricted site stays restricted everywhere</a:t>
            </a:r>
          </a:p>
        </p:txBody>
      </p:sp>
      <p:sp>
        <p:nvSpPr>
          <p:cNvPr id="8" name="TextBox 7"/>
          <p:cNvSpPr txBox="1"/>
          <p:nvPr/>
        </p:nvSpPr>
        <p:spPr>
          <a:xfrm>
            <a:off x="822960" y="3913632"/>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Blurred on the map, blank in the export, absent from search. Protecting a location in one place and printing it in another protects nothing.</a:t>
            </a:r>
          </a:p>
        </p:txBody>
      </p:sp>
      <p:sp>
        <p:nvSpPr>
          <p:cNvPr id="9" name="TextBox 8"/>
          <p:cNvSpPr txBox="1"/>
          <p:nvPr/>
        </p:nvSpPr>
        <p:spPr>
          <a:xfrm>
            <a:off x="822960" y="4608576"/>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Every change is attributed and reversible</a:t>
            </a:r>
          </a:p>
        </p:txBody>
      </p:sp>
      <p:sp>
        <p:nvSpPr>
          <p:cNvPr id="10" name="TextBox 9"/>
          <p:cNvSpPr txBox="1"/>
          <p:nvPr/>
        </p:nvSpPr>
        <p:spPr>
          <a:xfrm>
            <a:off x="822960" y="4937760"/>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Who changed what, when, and what it was before. Deleting something writes a local copy first.</a:t>
            </a:r>
          </a:p>
        </p:txBody>
      </p:sp>
      <p:sp>
        <p:nvSpPr>
          <p:cNvPr id="11" name="TextBox 10"/>
          <p:cNvSpPr txBox="1"/>
          <p:nvPr/>
        </p:nvSpPr>
        <p:spPr>
          <a:xfrm>
            <a:off x="822960" y="5632704"/>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It refuses impossible data</a:t>
            </a:r>
          </a:p>
        </p:txBody>
      </p:sp>
      <p:sp>
        <p:nvSpPr>
          <p:cNvPr id="12" name="TextBox 11"/>
          <p:cNvSpPr txBox="1"/>
          <p:nvPr/>
        </p:nvSpPr>
        <p:spPr>
          <a:xfrm>
            <a:off x="822960" y="5961888"/>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A stratigraphic sequence that loops is a typing mistake, not a discovery. It is caught on import, before it becomes a published phasing.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914400"/>
            <a:ext cx="10058400" cy="731520"/>
          </a:xfrm>
          <a:prstGeom prst="rect">
            <a:avLst/>
          </a:prstGeom>
          <a:noFill/>
        </p:spPr>
        <p:txBody>
          <a:bodyPr wrap="square" lIns="0" rIns="0" tIns="0" bIns="0">
            <a:spAutoFit/>
          </a:bodyPr>
          <a:lstStyle/>
          <a:p>
            <a:pPr algn="l">
              <a:lnSpc>
                <a:spcPct val="100000"/>
              </a:lnSpc>
            </a:pPr>
            <a:r>
              <a:rPr sz="3400" b="1">
                <a:solidFill>
                  <a:srgbClr val="3B2F24"/>
                </a:solidFill>
                <a:latin typeface="Georgia"/>
              </a:rPr>
              <a:t>A season, before and after</a:t>
            </a:r>
          </a:p>
        </p:txBody>
      </p:sp>
      <p:sp>
        <p:nvSpPr>
          <p:cNvPr id="3" name="Rectangle 2"/>
          <p:cNvSpPr/>
          <p:nvPr/>
        </p:nvSpPr>
        <p:spPr>
          <a:xfrm>
            <a:off x="822960" y="173736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22960" y="2194560"/>
            <a:ext cx="4846320" cy="356616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468880"/>
            <a:ext cx="4206240" cy="320040"/>
          </a:xfrm>
          <a:prstGeom prst="rect">
            <a:avLst/>
          </a:prstGeom>
          <a:noFill/>
        </p:spPr>
        <p:txBody>
          <a:bodyPr wrap="square" lIns="0" rIns="0" tIns="0" bIns="0">
            <a:spAutoFit/>
          </a:bodyPr>
          <a:lstStyle/>
          <a:p>
            <a:pPr algn="l">
              <a:lnSpc>
                <a:spcPct val="100000"/>
              </a:lnSpc>
            </a:pPr>
            <a:r>
              <a:rPr sz="1300" b="1">
                <a:solidFill>
                  <a:srgbClr val="7A6B5C"/>
                </a:solidFill>
                <a:latin typeface="Calibri"/>
              </a:rPr>
              <a:t>TODAY</a:t>
            </a:r>
          </a:p>
        </p:txBody>
      </p:sp>
      <p:sp>
        <p:nvSpPr>
          <p:cNvPr id="6" name="TextBox 5"/>
          <p:cNvSpPr txBox="1"/>
          <p:nvPr/>
        </p:nvSpPr>
        <p:spPr>
          <a:xfrm>
            <a:off x="1143000" y="2971800"/>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Finds numbered in a spreadsheet, re-keyed into a second one for the museum.</a:t>
            </a:r>
          </a:p>
        </p:txBody>
      </p:sp>
      <p:sp>
        <p:nvSpPr>
          <p:cNvPr id="7" name="TextBox 6"/>
          <p:cNvSpPr txBox="1"/>
          <p:nvPr/>
        </p:nvSpPr>
        <p:spPr>
          <a:xfrm>
            <a:off x="1143000" y="3593592"/>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The matrix drawn on paper and redrawn in Illustrator.</a:t>
            </a:r>
          </a:p>
        </p:txBody>
      </p:sp>
      <p:sp>
        <p:nvSpPr>
          <p:cNvPr id="8" name="TextBox 7"/>
          <p:cNvSpPr txBox="1"/>
          <p:nvPr/>
        </p:nvSpPr>
        <p:spPr>
          <a:xfrm>
            <a:off x="1143000" y="4215384"/>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Photographs named by camera, matched to finds by memory.</a:t>
            </a:r>
          </a:p>
        </p:txBody>
      </p:sp>
      <p:sp>
        <p:nvSpPr>
          <p:cNvPr id="9" name="TextBox 8"/>
          <p:cNvSpPr txBox="1"/>
          <p:nvPr/>
        </p:nvSpPr>
        <p:spPr>
          <a:xfrm>
            <a:off x="1143000" y="4837176"/>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“Send me everything on Tell el-Demo” → a folder of seven CSVs.</a:t>
            </a:r>
          </a:p>
        </p:txBody>
      </p:sp>
      <p:sp>
        <p:nvSpPr>
          <p:cNvPr id="10" name="TextBox 9"/>
          <p:cNvSpPr txBox="1"/>
          <p:nvPr/>
        </p:nvSpPr>
        <p:spPr>
          <a:xfrm>
            <a:off x="1143000" y="5458968"/>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Permit renewals remembered, or not.</a:t>
            </a:r>
          </a:p>
        </p:txBody>
      </p:sp>
      <p:sp>
        <p:nvSpPr>
          <p:cNvPr id="11" name="Rounded Rectangle 10"/>
          <p:cNvSpPr/>
          <p:nvPr/>
        </p:nvSpPr>
        <p:spPr>
          <a:xfrm>
            <a:off x="6309360" y="2194560"/>
            <a:ext cx="4846320" cy="356616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629400" y="2468880"/>
            <a:ext cx="4206240" cy="320040"/>
          </a:xfrm>
          <a:prstGeom prst="rect">
            <a:avLst/>
          </a:prstGeom>
          <a:noFill/>
        </p:spPr>
        <p:txBody>
          <a:bodyPr wrap="square" lIns="0" rIns="0" tIns="0" bIns="0">
            <a:spAutoFit/>
          </a:bodyPr>
          <a:lstStyle/>
          <a:p>
            <a:pPr algn="l">
              <a:lnSpc>
                <a:spcPct val="100000"/>
              </a:lnSpc>
            </a:pPr>
            <a:r>
              <a:rPr sz="1300" b="1">
                <a:solidFill>
                  <a:srgbClr val="2F5D50"/>
                </a:solidFill>
                <a:latin typeface="Calibri"/>
              </a:rPr>
              <a:t>WITH STRATUM</a:t>
            </a:r>
          </a:p>
        </p:txBody>
      </p:sp>
      <p:sp>
        <p:nvSpPr>
          <p:cNvPr id="13" name="TextBox 12"/>
          <p:cNvSpPr txBox="1"/>
          <p:nvPr/>
        </p:nvSpPr>
        <p:spPr>
          <a:xfrm>
            <a:off x="6629400" y="2971800"/>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Numbered once. The museum record points at the excavation record.</a:t>
            </a:r>
          </a:p>
        </p:txBody>
      </p:sp>
      <p:sp>
        <p:nvSpPr>
          <p:cNvPr id="14" name="TextBox 13"/>
          <p:cNvSpPr txBox="1"/>
          <p:nvPr/>
        </p:nvSpPr>
        <p:spPr>
          <a:xfrm>
            <a:off x="6629400" y="3593592"/>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The matrix imported from the sheet already kept — and checked for loops.</a:t>
            </a:r>
          </a:p>
        </p:txBody>
      </p:sp>
      <p:sp>
        <p:nvSpPr>
          <p:cNvPr id="15" name="TextBox 14"/>
          <p:cNvSpPr txBox="1"/>
          <p:nvPr/>
        </p:nvSpPr>
        <p:spPr>
          <a:xfrm>
            <a:off x="6629400" y="4215384"/>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Photographs attached to the context, with their EXIF read on upload.</a:t>
            </a:r>
          </a:p>
        </p:txBody>
      </p:sp>
      <p:sp>
        <p:nvSpPr>
          <p:cNvPr id="16" name="TextBox 15"/>
          <p:cNvSpPr txBox="1"/>
          <p:nvPr/>
        </p:nvSpPr>
        <p:spPr>
          <a:xfrm>
            <a:off x="6629400" y="4837176"/>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One workbook, one sheet per kind of record, identifiers resolved to names.</a:t>
            </a:r>
          </a:p>
        </p:txBody>
      </p:sp>
      <p:sp>
        <p:nvSpPr>
          <p:cNvPr id="17" name="TextBox 16"/>
          <p:cNvSpPr txBox="1"/>
          <p:nvPr/>
        </p:nvSpPr>
        <p:spPr>
          <a:xfrm>
            <a:off x="6629400" y="5458968"/>
            <a:ext cx="4206240" cy="566928"/>
          </a:xfrm>
          <a:prstGeom prst="rect">
            <a:avLst/>
          </a:prstGeom>
          <a:noFill/>
        </p:spPr>
        <p:txBody>
          <a:bodyPr wrap="square" lIns="0" rIns="0" tIns="0" bIns="0">
            <a:spAutoFit/>
          </a:bodyPr>
          <a:lstStyle/>
          <a:p>
            <a:pPr algn="l">
              <a:lnSpc>
                <a:spcPct val="125000"/>
              </a:lnSpc>
            </a:pPr>
            <a:r>
              <a:rPr sz="1400" b="0">
                <a:solidFill>
                  <a:srgbClr val="3B2F24"/>
                </a:solidFill>
                <a:latin typeface="Calibri"/>
              </a:rPr>
              <a:t>Permits, costs and preparations recorded against the activity, with what is outstanding.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82296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MIGRATION</a:t>
            </a:r>
          </a:p>
        </p:txBody>
      </p:sp>
      <p:sp>
        <p:nvSpPr>
          <p:cNvPr id="3" name="TextBox 2"/>
          <p:cNvSpPr txBox="1"/>
          <p:nvPr/>
        </p:nvSpPr>
        <p:spPr>
          <a:xfrm>
            <a:off x="822960" y="1234440"/>
            <a:ext cx="10058400" cy="822960"/>
          </a:xfrm>
          <a:prstGeom prst="rect">
            <a:avLst/>
          </a:prstGeom>
          <a:noFill/>
        </p:spPr>
        <p:txBody>
          <a:bodyPr wrap="square" lIns="0" rIns="0" tIns="0" bIns="0">
            <a:spAutoFit/>
          </a:bodyPr>
          <a:lstStyle/>
          <a:p>
            <a:pPr algn="l">
              <a:lnSpc>
                <a:spcPct val="100000"/>
              </a:lnSpc>
            </a:pPr>
            <a:r>
              <a:rPr sz="3400" b="1">
                <a:solidFill>
                  <a:srgbClr val="3B2F24"/>
                </a:solidFill>
                <a:latin typeface="Georgia"/>
              </a:rPr>
              <a:t>Built to meet data where it already is</a:t>
            </a:r>
          </a:p>
        </p:txBody>
      </p:sp>
      <p:sp>
        <p:nvSpPr>
          <p:cNvPr id="4" name="Rectangle 3"/>
          <p:cNvSpPr/>
          <p:nvPr/>
        </p:nvSpPr>
        <p:spPr>
          <a:xfrm>
            <a:off x="822960" y="210312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60320"/>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Import from the spreadsheets you have</a:t>
            </a:r>
          </a:p>
        </p:txBody>
      </p:sp>
      <p:sp>
        <p:nvSpPr>
          <p:cNvPr id="6" name="TextBox 5"/>
          <p:cNvSpPr txBox="1"/>
          <p:nvPr/>
        </p:nvSpPr>
        <p:spPr>
          <a:xfrm>
            <a:off x="822960" y="2889504"/>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Column names are matched to fields — “Acc. No.”, “Inv. no.”, “Reg No” all find the same place. Every guess is shown for approval, and nothing is written until you say so.</a:t>
            </a:r>
          </a:p>
        </p:txBody>
      </p:sp>
      <p:sp>
        <p:nvSpPr>
          <p:cNvPr id="7" name="TextBox 6"/>
          <p:cNvSpPr txBox="1"/>
          <p:nvPr/>
        </p:nvSpPr>
        <p:spPr>
          <a:xfrm>
            <a:off x="822960" y="3584448"/>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A Harris matrix from a sheet</a:t>
            </a:r>
          </a:p>
        </p:txBody>
      </p:sp>
      <p:sp>
        <p:nvSpPr>
          <p:cNvPr id="8" name="TextBox 7"/>
          <p:cNvSpPr txBox="1"/>
          <p:nvPr/>
        </p:nvSpPr>
        <p:spPr>
          <a:xfrm>
            <a:off x="822960" y="3913632"/>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Two columns and a relationship word. “Overlies”, “truncated by”, “earlier than” are all understood. A sequence that cannot have happened is refused with the loop named.</a:t>
            </a:r>
          </a:p>
        </p:txBody>
      </p:sp>
      <p:sp>
        <p:nvSpPr>
          <p:cNvPr id="9" name="TextBox 8"/>
          <p:cNvSpPr txBox="1"/>
          <p:nvPr/>
        </p:nvSpPr>
        <p:spPr>
          <a:xfrm>
            <a:off x="822960" y="4608576"/>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Legacy numbering survives</a:t>
            </a:r>
          </a:p>
        </p:txBody>
      </p:sp>
      <p:sp>
        <p:nvSpPr>
          <p:cNvPr id="10" name="TextBox 9"/>
          <p:cNvSpPr txBox="1"/>
          <p:nvPr/>
        </p:nvSpPr>
        <p:spPr>
          <a:xfrm>
            <a:off x="822960" y="4937760"/>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A collection that cannot record 1974.1a-bis is a collection that stays in its spreadsheet. Numbers that predate the current scheme are kept and flagged, not rejected.</a:t>
            </a:r>
          </a:p>
        </p:txBody>
      </p:sp>
      <p:sp>
        <p:nvSpPr>
          <p:cNvPr id="11" name="TextBox 10"/>
          <p:cNvSpPr txBox="1"/>
          <p:nvPr/>
        </p:nvSpPr>
        <p:spPr>
          <a:xfrm>
            <a:off x="822960" y="5632704"/>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Out again as a real workbook</a:t>
            </a:r>
          </a:p>
        </p:txBody>
      </p:sp>
      <p:sp>
        <p:nvSpPr>
          <p:cNvPr id="12" name="TextBox 11"/>
          <p:cNvSpPr txBox="1"/>
          <p:nvPr/>
        </p:nvSpPr>
        <p:spPr>
          <a:xfrm>
            <a:off x="822960" y="5961888"/>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Everything on a site or a collection in one file, with a cover sheet saying what it is, who exported it and when.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77724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DAY TO DAY</a:t>
            </a:r>
          </a:p>
        </p:txBody>
      </p:sp>
      <p:sp>
        <p:nvSpPr>
          <p:cNvPr id="3" name="TextBox 2"/>
          <p:cNvSpPr txBox="1"/>
          <p:nvPr/>
        </p:nvSpPr>
        <p:spPr>
          <a:xfrm>
            <a:off x="822960" y="1143000"/>
            <a:ext cx="10058400" cy="731520"/>
          </a:xfrm>
          <a:prstGeom prst="rect">
            <a:avLst/>
          </a:prstGeom>
          <a:noFill/>
        </p:spPr>
        <p:txBody>
          <a:bodyPr wrap="square" lIns="0" rIns="0" tIns="0" bIns="0">
            <a:spAutoFit/>
          </a:bodyPr>
          <a:lstStyle/>
          <a:p>
            <a:pPr algn="l">
              <a:lnSpc>
                <a:spcPct val="100000"/>
              </a:lnSpc>
            </a:pPr>
            <a:r>
              <a:rPr sz="3400" b="1">
                <a:solidFill>
                  <a:srgbClr val="3B2F24"/>
                </a:solidFill>
                <a:latin typeface="Georgia"/>
              </a:rPr>
              <a:t>In the field and in the store</a:t>
            </a:r>
          </a:p>
        </p:txBody>
      </p:sp>
      <p:sp>
        <p:nvSpPr>
          <p:cNvPr id="4" name="Rectangle 3"/>
          <p:cNvSpPr/>
          <p:nvPr/>
        </p:nvSpPr>
        <p:spPr>
          <a:xfrm>
            <a:off x="822960" y="196596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78992"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QR labels</a:t>
            </a:r>
          </a:p>
        </p:txBody>
      </p:sp>
      <p:sp>
        <p:nvSpPr>
          <p:cNvPr id="7" name="TextBox 6"/>
          <p:cNvSpPr txBox="1"/>
          <p:nvPr/>
        </p:nvSpPr>
        <p:spPr>
          <a:xfrm>
            <a:off x="1078992"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Printed to the sticker size you buy. A scan opens the record — and reveals nothing the scanner could not already see.</a:t>
            </a:r>
          </a:p>
        </p:txBody>
      </p:sp>
      <p:sp>
        <p:nvSpPr>
          <p:cNvPr id="8" name="Rounded Rectangle 7"/>
          <p:cNvSpPr/>
          <p:nvPr/>
        </p:nvSpPr>
        <p:spPr>
          <a:xfrm>
            <a:off x="4315968"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0"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Storage as a tree</a:t>
            </a:r>
          </a:p>
        </p:txBody>
      </p:sp>
      <p:sp>
        <p:nvSpPr>
          <p:cNvPr id="10" name="TextBox 9"/>
          <p:cNvSpPr txBox="1"/>
          <p:nvPr/>
        </p:nvSpPr>
        <p:spPr>
          <a:xfrm>
            <a:off x="4572000"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Building, room, cabinet, shelf, box. Move a box and everything in it moves with it.</a:t>
            </a:r>
          </a:p>
        </p:txBody>
      </p:sp>
      <p:sp>
        <p:nvSpPr>
          <p:cNvPr id="11" name="Rounded Rectangle 10"/>
          <p:cNvSpPr/>
          <p:nvPr/>
        </p:nvSpPr>
        <p:spPr>
          <a:xfrm>
            <a:off x="7808976" y="2377440"/>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65008" y="2615184"/>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Spreadsheet view</a:t>
            </a:r>
          </a:p>
        </p:txBody>
      </p:sp>
      <p:sp>
        <p:nvSpPr>
          <p:cNvPr id="13" name="TextBox 12"/>
          <p:cNvSpPr txBox="1"/>
          <p:nvPr/>
        </p:nvSpPr>
        <p:spPr>
          <a:xfrm>
            <a:off x="8065008" y="3035808"/>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The catalogue as a grid you tab through and paste into, with the platform's rules still applied to every cell.</a:t>
            </a:r>
          </a:p>
        </p:txBody>
      </p:sp>
      <p:sp>
        <p:nvSpPr>
          <p:cNvPr id="14" name="Rounded Rectangle 13"/>
          <p:cNvSpPr/>
          <p:nvPr/>
        </p:nvSpPr>
        <p:spPr>
          <a:xfrm>
            <a:off x="822960"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78992"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Floor plans</a:t>
            </a:r>
          </a:p>
        </p:txBody>
      </p:sp>
      <p:sp>
        <p:nvSpPr>
          <p:cNvPr id="16" name="TextBox 15"/>
          <p:cNvSpPr txBox="1"/>
          <p:nvPr/>
        </p:nvSpPr>
        <p:spPr>
          <a:xfrm>
            <a:off x="1078992"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Site photographs tied to the grid they were taken in, on a plan you can draw on.</a:t>
            </a:r>
          </a:p>
        </p:txBody>
      </p:sp>
      <p:sp>
        <p:nvSpPr>
          <p:cNvPr id="17" name="Rounded Rectangle 16"/>
          <p:cNvSpPr/>
          <p:nvPr/>
        </p:nvSpPr>
        <p:spPr>
          <a:xfrm>
            <a:off x="4315968"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572000"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Shared calendar</a:t>
            </a:r>
          </a:p>
        </p:txBody>
      </p:sp>
      <p:sp>
        <p:nvSpPr>
          <p:cNvPr id="19" name="TextBox 18"/>
          <p:cNvSpPr txBox="1"/>
          <p:nvPr/>
        </p:nvSpPr>
        <p:spPr>
          <a:xfrm>
            <a:off x="4572000"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Everybody can add to it. An event can be built from a past activity, and brings its checklist with it.</a:t>
            </a:r>
          </a:p>
        </p:txBody>
      </p:sp>
      <p:sp>
        <p:nvSpPr>
          <p:cNvPr id="20" name="Rounded Rectangle 19"/>
          <p:cNvSpPr/>
          <p:nvPr/>
        </p:nvSpPr>
        <p:spPr>
          <a:xfrm>
            <a:off x="7808976" y="4361688"/>
            <a:ext cx="3200400" cy="1691640"/>
          </a:xfrm>
          <a:prstGeom prst="roundRect">
            <a:avLst>
              <a:gd name="adj" fmla="val 4000"/>
            </a:avLst>
          </a:prstGeom>
          <a:solidFill>
            <a:srgbClr val="FCFAF6"/>
          </a:solidFill>
          <a:ln w="12700">
            <a:solidFill>
              <a:srgbClr val="D9D0B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65008" y="4599432"/>
            <a:ext cx="2688336" cy="365760"/>
          </a:xfrm>
          <a:prstGeom prst="rect">
            <a:avLst/>
          </a:prstGeom>
          <a:noFill/>
        </p:spPr>
        <p:txBody>
          <a:bodyPr wrap="square" lIns="0" rIns="0" tIns="0" bIns="0">
            <a:spAutoFit/>
          </a:bodyPr>
          <a:lstStyle/>
          <a:p>
            <a:pPr algn="l">
              <a:lnSpc>
                <a:spcPct val="100000"/>
              </a:lnSpc>
            </a:pPr>
            <a:r>
              <a:rPr sz="1700" b="1">
                <a:solidFill>
                  <a:srgbClr val="3B2F24"/>
                </a:solidFill>
                <a:latin typeface="Calibri"/>
              </a:rPr>
              <a:t>Works offline-ish</a:t>
            </a:r>
          </a:p>
        </p:txBody>
      </p:sp>
      <p:sp>
        <p:nvSpPr>
          <p:cNvPr id="22" name="TextBox 21"/>
          <p:cNvSpPr txBox="1"/>
          <p:nvPr/>
        </p:nvSpPr>
        <p:spPr>
          <a:xfrm>
            <a:off x="8065008" y="5020056"/>
            <a:ext cx="2688336" cy="868680"/>
          </a:xfrm>
          <a:prstGeom prst="rect">
            <a:avLst/>
          </a:prstGeom>
          <a:noFill/>
        </p:spPr>
        <p:txBody>
          <a:bodyPr wrap="square" lIns="0" rIns="0" tIns="0" bIns="0">
            <a:spAutoFit/>
          </a:bodyPr>
          <a:lstStyle/>
          <a:p>
            <a:pPr algn="l">
              <a:lnSpc>
                <a:spcPct val="125000"/>
              </a:lnSpc>
            </a:pPr>
            <a:r>
              <a:rPr sz="1200" b="0">
                <a:solidFill>
                  <a:srgbClr val="7A6B5C"/>
                </a:solidFill>
                <a:latin typeface="Calibri"/>
              </a:rPr>
              <a:t>Runs on your own hardware, on your own network. No account with anybody, no subscription, no data leaving.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1371600"/>
            <a:ext cx="7315200" cy="365760"/>
          </a:xfrm>
          <a:prstGeom prst="rect">
            <a:avLst/>
          </a:prstGeom>
          <a:noFill/>
        </p:spPr>
        <p:txBody>
          <a:bodyPr wrap="square" lIns="0" rIns="0" tIns="0" bIns="0">
            <a:spAutoFit/>
          </a:bodyPr>
          <a:lstStyle/>
          <a:p>
            <a:pPr algn="l">
              <a:lnSpc>
                <a:spcPct val="100000"/>
              </a:lnSpc>
            </a:pPr>
            <a:r>
              <a:rPr sz="1200" b="1">
                <a:solidFill>
                  <a:srgbClr val="8B3A1F"/>
                </a:solidFill>
                <a:latin typeface="Calibri"/>
              </a:rPr>
              <a:t>WHERE IT RUNS</a:t>
            </a:r>
          </a:p>
        </p:txBody>
      </p:sp>
      <p:sp>
        <p:nvSpPr>
          <p:cNvPr id="3" name="Rectangle 2"/>
          <p:cNvSpPr/>
          <p:nvPr/>
        </p:nvSpPr>
        <p:spPr>
          <a:xfrm>
            <a:off x="822960" y="182880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286000"/>
            <a:ext cx="10058400" cy="2377440"/>
          </a:xfrm>
          <a:prstGeom prst="rect">
            <a:avLst/>
          </a:prstGeom>
          <a:noFill/>
        </p:spPr>
        <p:txBody>
          <a:bodyPr wrap="square" lIns="0" rIns="0" tIns="0" bIns="0">
            <a:spAutoFit/>
          </a:bodyPr>
          <a:lstStyle/>
          <a:p>
            <a:pPr algn="l">
              <a:lnSpc>
                <a:spcPct val="115000"/>
              </a:lnSpc>
            </a:pPr>
            <a:r>
              <a:rPr sz="4000" b="1">
                <a:solidFill>
                  <a:srgbClr val="3B2F24"/>
                </a:solidFill>
                <a:latin typeface="Georgia"/>
              </a:rPr>
              <a:t>On your machine. On your network.</a:t>
            </a:r>
          </a:p>
          <a:p>
            <a:pPr algn="l">
              <a:lnSpc>
                <a:spcPct val="115000"/>
              </a:lnSpc>
            </a:pPr>
            <a:r>
              <a:rPr sz="4000" b="1">
                <a:solidFill>
                  <a:srgbClr val="3B2F24"/>
                </a:solidFill>
                <a:latin typeface="Georgia"/>
              </a:rPr>
              <a:t>On a disk you choose.</a:t>
            </a:r>
          </a:p>
        </p:txBody>
      </p:sp>
      <p:sp>
        <p:nvSpPr>
          <p:cNvPr id="5" name="TextBox 4"/>
          <p:cNvSpPr txBox="1"/>
          <p:nvPr/>
        </p:nvSpPr>
        <p:spPr>
          <a:xfrm>
            <a:off x="822960" y="4846320"/>
            <a:ext cx="9144000" cy="1280160"/>
          </a:xfrm>
          <a:prstGeom prst="rect">
            <a:avLst/>
          </a:prstGeom>
          <a:noFill/>
        </p:spPr>
        <p:txBody>
          <a:bodyPr wrap="square" lIns="0" rIns="0" tIns="0" bIns="0">
            <a:spAutoFit/>
          </a:bodyPr>
          <a:lstStyle/>
          <a:p>
            <a:pPr algn="l">
              <a:lnSpc>
                <a:spcPct val="135000"/>
              </a:lnSpc>
            </a:pPr>
            <a:r>
              <a:rPr sz="1700" b="0">
                <a:solidFill>
                  <a:srgbClr val="7A6B5C"/>
                </a:solidFill>
                <a:latin typeface="Calibri"/>
              </a:rPr>
              <a:t>One folder and one double-click to start. Files and nightly backups can be pointed at any drive you like. Nothing is sent anywhere, no account is created with anybody, and the whole thing can be handed to another institution as a folder.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2EDE3"/>
        </a:solidFill>
        <a:effectLst/>
      </p:bgPr>
    </p:bg>
    <p:spTree>
      <p:nvGrpSpPr>
        <p:cNvPr id="1" name=""/>
        <p:cNvGrpSpPr/>
        <p:nvPr/>
      </p:nvGrpSpPr>
      <p:grpSpPr/>
      <p:sp>
        <p:nvSpPr>
          <p:cNvPr id="2" name="TextBox 1"/>
          <p:cNvSpPr txBox="1"/>
          <p:nvPr/>
        </p:nvSpPr>
        <p:spPr>
          <a:xfrm>
            <a:off x="822960" y="822960"/>
            <a:ext cx="7315200" cy="320040"/>
          </a:xfrm>
          <a:prstGeom prst="rect">
            <a:avLst/>
          </a:prstGeom>
          <a:noFill/>
        </p:spPr>
        <p:txBody>
          <a:bodyPr wrap="square" lIns="0" rIns="0" tIns="0" bIns="0">
            <a:spAutoFit/>
          </a:bodyPr>
          <a:lstStyle/>
          <a:p>
            <a:pPr algn="l">
              <a:lnSpc>
                <a:spcPct val="100000"/>
              </a:lnSpc>
            </a:pPr>
            <a:r>
              <a:rPr sz="1200" b="1">
                <a:solidFill>
                  <a:srgbClr val="8B3A1F"/>
                </a:solidFill>
                <a:latin typeface="Calibri"/>
              </a:rPr>
              <a:t>STATUS</a:t>
            </a:r>
          </a:p>
        </p:txBody>
      </p:sp>
      <p:sp>
        <p:nvSpPr>
          <p:cNvPr id="3" name="TextBox 2"/>
          <p:cNvSpPr txBox="1"/>
          <p:nvPr/>
        </p:nvSpPr>
        <p:spPr>
          <a:xfrm>
            <a:off x="822960" y="1234440"/>
            <a:ext cx="10058400" cy="822960"/>
          </a:xfrm>
          <a:prstGeom prst="rect">
            <a:avLst/>
          </a:prstGeom>
          <a:noFill/>
        </p:spPr>
        <p:txBody>
          <a:bodyPr wrap="square" lIns="0" rIns="0" tIns="0" bIns="0">
            <a:spAutoFit/>
          </a:bodyPr>
          <a:lstStyle/>
          <a:p>
            <a:pPr algn="l">
              <a:lnSpc>
                <a:spcPct val="100000"/>
              </a:lnSpc>
            </a:pPr>
            <a:r>
              <a:rPr sz="3400" b="1">
                <a:solidFill>
                  <a:srgbClr val="3B2F24"/>
                </a:solidFill>
                <a:latin typeface="Georgia"/>
              </a:rPr>
              <a:t>Where it stands</a:t>
            </a:r>
          </a:p>
        </p:txBody>
      </p:sp>
      <p:sp>
        <p:nvSpPr>
          <p:cNvPr id="4" name="Rectangle 3"/>
          <p:cNvSpPr/>
          <p:nvPr/>
        </p:nvSpPr>
        <p:spPr>
          <a:xfrm>
            <a:off x="822960" y="2103120"/>
            <a:ext cx="109728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560320"/>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Working now</a:t>
            </a:r>
          </a:p>
        </p:txBody>
      </p:sp>
      <p:sp>
        <p:nvSpPr>
          <p:cNvPr id="6" name="TextBox 5"/>
          <p:cNvSpPr txBox="1"/>
          <p:nvPr/>
        </p:nvSpPr>
        <p:spPr>
          <a:xfrm>
            <a:off x="822960" y="2889504"/>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All six modules, the permission model, import and export, the Harris matrix, storage, labels, the activity hub, the calendar, user administration.</a:t>
            </a:r>
          </a:p>
        </p:txBody>
      </p:sp>
      <p:sp>
        <p:nvSpPr>
          <p:cNvPr id="7" name="TextBox 6"/>
          <p:cNvSpPr txBox="1"/>
          <p:nvPr/>
        </p:nvSpPr>
        <p:spPr>
          <a:xfrm>
            <a:off x="822960" y="3584448"/>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In progress</a:t>
            </a:r>
          </a:p>
        </p:txBody>
      </p:sp>
      <p:sp>
        <p:nvSpPr>
          <p:cNvPr id="8" name="TextBox 7"/>
          <p:cNvSpPr txBox="1"/>
          <p:nvPr/>
        </p:nvSpPr>
        <p:spPr>
          <a:xfrm>
            <a:off x="822960" y="3913632"/>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The recording sheets, pottery analysis and publication workflow as archaeologists actually use them; a reference library that links citations to sites and objects.</a:t>
            </a:r>
          </a:p>
        </p:txBody>
      </p:sp>
      <p:sp>
        <p:nvSpPr>
          <p:cNvPr id="9" name="TextBox 8"/>
          <p:cNvSpPr txBox="1"/>
          <p:nvPr/>
        </p:nvSpPr>
        <p:spPr>
          <a:xfrm>
            <a:off x="822960" y="4608576"/>
            <a:ext cx="10424160" cy="320040"/>
          </a:xfrm>
          <a:prstGeom prst="rect">
            <a:avLst/>
          </a:prstGeom>
          <a:noFill/>
        </p:spPr>
        <p:txBody>
          <a:bodyPr wrap="square" lIns="0" rIns="0" tIns="0" bIns="0">
            <a:spAutoFit/>
          </a:bodyPr>
          <a:lstStyle/>
          <a:p>
            <a:pPr algn="l">
              <a:lnSpc>
                <a:spcPct val="100000"/>
              </a:lnSpc>
            </a:pPr>
            <a:r>
              <a:rPr sz="1900" b="1">
                <a:solidFill>
                  <a:srgbClr val="2F5D50"/>
                </a:solidFill>
                <a:latin typeface="Calibri"/>
              </a:rPr>
              <a:t>Next</a:t>
            </a:r>
          </a:p>
        </p:txBody>
      </p:sp>
      <p:sp>
        <p:nvSpPr>
          <p:cNvPr id="10" name="TextBox 9"/>
          <p:cNvSpPr txBox="1"/>
          <p:nvPr/>
        </p:nvSpPr>
        <p:spPr>
          <a:xfrm>
            <a:off x="822960" y="4937760"/>
            <a:ext cx="10424160" cy="640080"/>
          </a:xfrm>
          <a:prstGeom prst="rect">
            <a:avLst/>
          </a:prstGeom>
          <a:noFill/>
        </p:spPr>
        <p:txBody>
          <a:bodyPr wrap="square" lIns="0" rIns="0" tIns="0" bIns="0">
            <a:spAutoFit/>
          </a:bodyPr>
          <a:lstStyle/>
          <a:p>
            <a:pPr algn="l">
              <a:lnSpc>
                <a:spcPct val="130000"/>
              </a:lnSpc>
            </a:pPr>
            <a:r>
              <a:rPr sz="1500" b="0">
                <a:solidFill>
                  <a:srgbClr val="7A6B5C"/>
                </a:solidFill>
                <a:latin typeface="Calibri"/>
              </a:rPr>
              <a:t>The digital archive — long-term preservation with checksums and a deposit record — and a request-and-upload flow for material held by other people.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3B2F24"/>
        </a:solidFill>
        <a:effectLst/>
      </p:bgPr>
    </p:bg>
    <p:spTree>
      <p:nvGrpSpPr>
        <p:cNvPr id="1" name=""/>
        <p:cNvGrpSpPr/>
        <p:nvPr/>
      </p:nvGrpSpPr>
      <p:grpSpPr/>
      <p:sp>
        <p:nvSpPr>
          <p:cNvPr id="2" name="Rectangle 1"/>
          <p:cNvSpPr/>
          <p:nvPr/>
        </p:nvSpPr>
        <p:spPr>
          <a:xfrm>
            <a:off x="822960" y="1371600"/>
            <a:ext cx="1463040" cy="38100"/>
          </a:xfrm>
          <a:prstGeom prst="rect">
            <a:avLst/>
          </a:prstGeom>
          <a:solidFill>
            <a:srgbClr val="8B3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737360"/>
            <a:ext cx="10058400" cy="914400"/>
          </a:xfrm>
          <a:prstGeom prst="rect">
            <a:avLst/>
          </a:prstGeom>
          <a:noFill/>
        </p:spPr>
        <p:txBody>
          <a:bodyPr wrap="square" lIns="0" rIns="0" tIns="0" bIns="0">
            <a:spAutoFit/>
          </a:bodyPr>
          <a:lstStyle/>
          <a:p>
            <a:pPr algn="l">
              <a:lnSpc>
                <a:spcPct val="100000"/>
              </a:lnSpc>
            </a:pPr>
            <a:r>
              <a:rPr sz="4200" b="1">
                <a:solidFill>
                  <a:srgbClr val="F2EDE3"/>
                </a:solidFill>
                <a:latin typeface="Georgia"/>
              </a:rPr>
              <a:t>What we are asking for</a:t>
            </a:r>
          </a:p>
        </p:txBody>
      </p:sp>
      <p:sp>
        <p:nvSpPr>
          <p:cNvPr id="4" name="TextBox 3"/>
          <p:cNvSpPr txBox="1"/>
          <p:nvPr/>
        </p:nvSpPr>
        <p:spPr>
          <a:xfrm>
            <a:off x="822960" y="2926080"/>
            <a:ext cx="9601200" cy="548640"/>
          </a:xfrm>
          <a:prstGeom prst="rect">
            <a:avLst/>
          </a:prstGeom>
          <a:noFill/>
        </p:spPr>
        <p:txBody>
          <a:bodyPr wrap="square" lIns="0" rIns="0" tIns="0" bIns="0">
            <a:spAutoFit/>
          </a:bodyPr>
          <a:lstStyle/>
          <a:p>
            <a:pPr algn="l">
              <a:lnSpc>
                <a:spcPct val="130000"/>
              </a:lnSpc>
            </a:pPr>
            <a:r>
              <a:rPr sz="1900" b="0">
                <a:solidFill>
                  <a:srgbClr val="C9BEAC"/>
                </a:solidFill>
                <a:latin typeface="Calibri"/>
              </a:rPr>
              <a:t>A season's worth of real records to test it against.</a:t>
            </a:r>
          </a:p>
        </p:txBody>
      </p:sp>
      <p:sp>
        <p:nvSpPr>
          <p:cNvPr id="5" name="TextBox 4"/>
          <p:cNvSpPr txBox="1"/>
          <p:nvPr/>
        </p:nvSpPr>
        <p:spPr>
          <a:xfrm>
            <a:off x="822960" y="3584448"/>
            <a:ext cx="9601200" cy="548640"/>
          </a:xfrm>
          <a:prstGeom prst="rect">
            <a:avLst/>
          </a:prstGeom>
          <a:noFill/>
        </p:spPr>
        <p:txBody>
          <a:bodyPr wrap="square" lIns="0" rIns="0" tIns="0" bIns="0">
            <a:spAutoFit/>
          </a:bodyPr>
          <a:lstStyle/>
          <a:p>
            <a:pPr algn="l">
              <a:lnSpc>
                <a:spcPct val="130000"/>
              </a:lnSpc>
            </a:pPr>
            <a:r>
              <a:rPr sz="1900" b="0">
                <a:solidFill>
                  <a:srgbClr val="C9BEAC"/>
                </a:solidFill>
                <a:latin typeface="Calibri"/>
              </a:rPr>
              <a:t>Two people who will use it daily and say what is wrong.</a:t>
            </a:r>
          </a:p>
        </p:txBody>
      </p:sp>
      <p:sp>
        <p:nvSpPr>
          <p:cNvPr id="6" name="TextBox 5"/>
          <p:cNvSpPr txBox="1"/>
          <p:nvPr/>
        </p:nvSpPr>
        <p:spPr>
          <a:xfrm>
            <a:off x="822960" y="4242816"/>
            <a:ext cx="9601200" cy="548640"/>
          </a:xfrm>
          <a:prstGeom prst="rect">
            <a:avLst/>
          </a:prstGeom>
          <a:noFill/>
        </p:spPr>
        <p:txBody>
          <a:bodyPr wrap="square" lIns="0" rIns="0" tIns="0" bIns="0">
            <a:spAutoFit/>
          </a:bodyPr>
          <a:lstStyle/>
          <a:p>
            <a:pPr algn="l">
              <a:lnSpc>
                <a:spcPct val="130000"/>
              </a:lnSpc>
            </a:pPr>
            <a:r>
              <a:rPr sz="1900" b="0">
                <a:solidFill>
                  <a:srgbClr val="C9BEAC"/>
                </a:solidFill>
                <a:latin typeface="Calibri"/>
              </a:rPr>
              <a:t>A decision on where the institution's copy will live.</a:t>
            </a:r>
          </a:p>
        </p:txBody>
      </p:sp>
      <p:sp>
        <p:nvSpPr>
          <p:cNvPr id="7" name="TextBox 6"/>
          <p:cNvSpPr txBox="1"/>
          <p:nvPr/>
        </p:nvSpPr>
        <p:spPr>
          <a:xfrm>
            <a:off x="822960" y="5852160"/>
            <a:ext cx="10058400" cy="457200"/>
          </a:xfrm>
          <a:prstGeom prst="rect">
            <a:avLst/>
          </a:prstGeom>
          <a:noFill/>
        </p:spPr>
        <p:txBody>
          <a:bodyPr wrap="square" lIns="0" rIns="0" tIns="0" bIns="0">
            <a:spAutoFit/>
          </a:bodyPr>
          <a:lstStyle/>
          <a:p>
            <a:pPr algn="l">
              <a:lnSpc>
                <a:spcPct val="100000"/>
              </a:lnSpc>
            </a:pPr>
            <a:r>
              <a:rPr sz="1300" b="0">
                <a:solidFill>
                  <a:srgbClr val="8E8274"/>
                </a:solidFill>
                <a:latin typeface="Calibri"/>
              </a:rPr>
              <a:t>Stratum — archaeological research and heritage management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